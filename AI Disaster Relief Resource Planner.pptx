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437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640080"/>
            <a:ext cx="2926080" cy="292608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685800"/>
            <a:ext cx="1371600" cy="13716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/home/claude/ppt/icon_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76" y="104241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2344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CS23533 · FOUNDATIONS OF ARTIFICIAL INTELLIGENCE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69164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DISASTER RELIEF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PLANNER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6118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AI-Based System for Optimizing Emergency Resource Allocation and Relief Operations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4572000"/>
            <a:ext cx="6035040" cy="1600200"/>
          </a:xfrm>
          <a:prstGeom prst="roundRect">
            <a:avLst>
              <a:gd name="adj" fmla="val 5714"/>
            </a:avLst>
          </a:prstGeom>
          <a:solidFill>
            <a:srgbClr val="2437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736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400" y="513892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1" descr="/home/claude/ppt/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5257800"/>
            <a:ext cx="265176" cy="2651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5120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 Vardhini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A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240701180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3977640" y="513892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5" name="Image 2" descr="/home/claude/ppt/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5257800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63440" y="5120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Harini Sankar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A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240701168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905256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2026–2027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disasters — floods, cyclones, earthquakes, and landslides — create multiple emergencies at once.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resources such as food, water, medicines, rescue vehicles, medical teams, and shelters must be distributed efficiently.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decision-making struggles here: conditions change rapidly, and many factors — severity, resource availability, blocked roads, travel distance, vehicle availability, and shelter capacity — must all be weighed together.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417320"/>
            <a:ext cx="4892040" cy="4480560"/>
          </a:xfrm>
          <a:prstGeom prst="roundRect">
            <a:avLst>
              <a:gd name="adj" fmla="val 2041"/>
            </a:avLst>
          </a:prstGeom>
          <a:solidFill>
            <a:srgbClr val="1B2A41"/>
          </a:solidFill>
          <a:ln/>
        </p:spPr>
      </p:sp>
      <p:sp>
        <p:nvSpPr>
          <p:cNvPr id="6" name="Shape 4"/>
          <p:cNvSpPr/>
          <p:nvPr/>
        </p:nvSpPr>
        <p:spPr>
          <a:xfrm>
            <a:off x="7178040" y="173736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7" name="Image 0" descr="/home/claude/ppt/icon_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4344" y="1883664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5528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2514600"/>
            <a:ext cx="4251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develop an AI-based Disaster Relief Resource Planner that intelligently determines how available relief resources should be allocated to affected areas, and identifies suitable routes for delivering them — while considering priority, distance, resource availability, and operational constraints.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Disaster Relief Resource Planner   |   CS23533 – Foundations of Artificial Intelligence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89920" y="65196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/home/claude/ppt/icon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618488"/>
            <a:ext cx="374904" cy="3749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898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Affected Areas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76479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rank areas according to emergency severity.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880360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9" name="Image 1" descr="/home/claude/ppt/icon_tru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035808"/>
            <a:ext cx="374904" cy="37490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Resources Efficiently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18211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limited relief resources across competing needs.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4297680"/>
            <a:ext cx="685800" cy="685800"/>
          </a:xfrm>
          <a:prstGeom prst="ellipse">
            <a:avLst/>
          </a:prstGeom>
          <a:solidFill>
            <a:srgbClr val="24374F"/>
          </a:solidFill>
          <a:ln/>
        </p:spPr>
      </p:sp>
      <p:pic>
        <p:nvPicPr>
          <p:cNvPr id="13" name="Image 2" descr="/home/claude/ppt/icon_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4453128"/>
            <a:ext cx="374904" cy="3749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42245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Suitable Routes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59943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viable paths between resource centers and affected areas.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63640" y="146304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7" name="Image 3" descr="/home/claude/ppt/icon_gea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1618488"/>
            <a:ext cx="374904" cy="37490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32320" y="13898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Operational Constraints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7132320" y="176479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for resource, vehicle, road, and capacity limits.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63640" y="2880360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4" descr="/home/claude/ppt/icon_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3035808"/>
            <a:ext cx="374904" cy="37490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132320" y="28072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AI Reasoning &amp; ML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7132320" y="318211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intelligent reasoning and learning to support decisions.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263640" y="4297680"/>
            <a:ext cx="685800" cy="685800"/>
          </a:xfrm>
          <a:prstGeom prst="ellipse">
            <a:avLst/>
          </a:prstGeom>
          <a:solidFill>
            <a:srgbClr val="24374F"/>
          </a:solidFill>
          <a:ln/>
        </p:spPr>
      </p:sp>
      <p:pic>
        <p:nvPicPr>
          <p:cNvPr id="25" name="Image 5" descr="/home/claude/ppt/icon_dashbo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4453128"/>
            <a:ext cx="374904" cy="37490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32320" y="42245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 Clear Relief Plan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7132320" y="459943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understandable plan through a visual interface.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Disaster Relief Resource Planner   |   CS23533 – Foundations of Artificial Intelligence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10789920" y="65196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92840" cy="4160520"/>
        </p:xfrm>
        <a:graphic>
          <a:graphicData uri="http://schemas.openxmlformats.org/drawingml/2006/table">
            <a:tbl>
              <a:tblPr/>
              <a:tblGrid>
                <a:gridCol w="2331720"/>
                <a:gridCol w="2606040"/>
                <a:gridCol w="3520440"/>
                <a:gridCol w="28346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Disaster Management Systems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decision systems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predefined responses for emergencies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adaptability to changing conditions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search algorithms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routes between source and destination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not consider multiple disaster constraints at once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Allocation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 techniques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Allocates limited resources to different locations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with many resources and constraints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Intelligent Agents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Agent-based decision systems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autonomous decision-making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accurate environment information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models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Estimates demand and travel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suitable historical/simulated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 Satisfaction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 and backtracking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feasible assignments under constraints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 cost rises for large problems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Disaster Relief Resource Planner   |   CS23533 – Foundations of Artificial Intelligence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89920" y="65196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-822960"/>
            <a:ext cx="2743200" cy="2743200"/>
          </a:xfrm>
          <a:prstGeom prst="ellipse">
            <a:avLst/>
          </a:prstGeom>
          <a:solidFill>
            <a:srgbClr val="24374F"/>
          </a:solidFill>
          <a:ln/>
        </p:spPr>
      </p:sp>
      <p:pic>
        <p:nvPicPr>
          <p:cNvPr id="3" name="Image 0" descr="/home/claude/ppt/icon_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920240"/>
            <a:ext cx="-2743200" cy="-2743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1005840" y="-1005840"/>
            <a:ext cx="3108960" cy="3108960"/>
          </a:xfrm>
          <a:prstGeom prst="ellipse">
            <a:avLst/>
          </a:prstGeom>
          <a:solidFill>
            <a:srgbClr val="24374F"/>
          </a:solidFill>
          <a:ln/>
        </p:spPr>
      </p:sp>
      <p:sp>
        <p:nvSpPr>
          <p:cNvPr id="5" name="Shape 2"/>
          <p:cNvSpPr/>
          <p:nvPr/>
        </p:nvSpPr>
        <p:spPr>
          <a:xfrm>
            <a:off x="9966960" y="4846320"/>
            <a:ext cx="3108960" cy="3108960"/>
          </a:xfrm>
          <a:prstGeom prst="ellipse">
            <a:avLst/>
          </a:prstGeom>
          <a:solidFill>
            <a:srgbClr val="24374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685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1234440"/>
            <a:ext cx="822960" cy="8229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8" name="Image 1" descr="/home/claude/ppt/icon_puzz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4173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65960" y="118872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approaches solve route planning, resource allocation, prediction, or rule-based decisions separately.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822960" y="2880360"/>
            <a:ext cx="10515600" cy="0"/>
          </a:xfrm>
          <a:prstGeom prst="line">
            <a:avLst/>
          </a:prstGeom>
          <a:noFill/>
          <a:ln w="12700">
            <a:solidFill>
              <a:srgbClr val="3A4C6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3154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unifies them: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22960" y="37033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24374F"/>
          </a:solidFill>
          <a:ln/>
        </p:spPr>
      </p:sp>
      <p:sp>
        <p:nvSpPr>
          <p:cNvPr id="13" name="Shape 9"/>
          <p:cNvSpPr/>
          <p:nvPr/>
        </p:nvSpPr>
        <p:spPr>
          <a:xfrm>
            <a:off x="1572768" y="3904488"/>
            <a:ext cx="585216" cy="585216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4" name="Image 2" descr="/home/claude/ppt/icon_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928" y="404164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14400" y="459943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Agents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3035808" y="37033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24374F"/>
          </a:solidFill>
          <a:ln/>
        </p:spPr>
      </p:sp>
      <p:sp>
        <p:nvSpPr>
          <p:cNvPr id="17" name="Shape 12"/>
          <p:cNvSpPr/>
          <p:nvPr/>
        </p:nvSpPr>
        <p:spPr>
          <a:xfrm>
            <a:off x="3785616" y="3904488"/>
            <a:ext cx="585216" cy="58521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3" descr="/home/claude/ppt/icon_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776" y="4041648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127248" y="459943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Algorithms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248656" y="37033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24374F"/>
          </a:solidFill>
          <a:ln/>
        </p:spPr>
      </p:sp>
      <p:sp>
        <p:nvSpPr>
          <p:cNvPr id="21" name="Shape 15"/>
          <p:cNvSpPr/>
          <p:nvPr/>
        </p:nvSpPr>
        <p:spPr>
          <a:xfrm>
            <a:off x="5998464" y="3904488"/>
            <a:ext cx="585216" cy="585216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2" name="Image 4" descr="/home/claude/ppt/icon_bala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4041648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340096" y="459943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Satisfaction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7461504" y="37033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24374F"/>
          </a:solidFill>
          <a:ln/>
        </p:spPr>
      </p:sp>
      <p:sp>
        <p:nvSpPr>
          <p:cNvPr id="25" name="Shape 18"/>
          <p:cNvSpPr/>
          <p:nvPr/>
        </p:nvSpPr>
        <p:spPr>
          <a:xfrm>
            <a:off x="8211312" y="3904488"/>
            <a:ext cx="585216" cy="58521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6" name="Image 5" descr="/home/claude/ppt/icon_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4041648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552944" y="459943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Reasoning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9674352" y="37033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24374F"/>
          </a:solidFill>
          <a:ln/>
        </p:spPr>
      </p:sp>
      <p:sp>
        <p:nvSpPr>
          <p:cNvPr id="29" name="Shape 21"/>
          <p:cNvSpPr/>
          <p:nvPr/>
        </p:nvSpPr>
        <p:spPr>
          <a:xfrm>
            <a:off x="10424160" y="3904488"/>
            <a:ext cx="585216" cy="585216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0" name="Image 6" descr="/home/claude/ppt/icon_cha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1320" y="4041648"/>
            <a:ext cx="310896" cy="31089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9765792" y="459943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32" name="Text 23"/>
          <p:cNvSpPr txBox="1"/>
          <p:nvPr/>
        </p:nvSpPr>
        <p:spPr>
          <a:xfrm>
            <a:off x="822960" y="5394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one unified disaster-relief planning framework.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Disaster Relief Resource Planner   |   CS23533 – Foundations of Artificial Intelligence</a:t>
            </a:r>
            <a:endParaRPr lang="en-US" sz="900" dirty="0"/>
          </a:p>
        </p:txBody>
      </p:sp>
      <p:sp>
        <p:nvSpPr>
          <p:cNvPr id="34" name="Text 25"/>
          <p:cNvSpPr txBox="1"/>
          <p:nvPr/>
        </p:nvSpPr>
        <p:spPr>
          <a:xfrm>
            <a:off x="10789920" y="65196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&amp; Its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6" name="Image 0" descr="/home/claude/ppt/icon_ge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196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Today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31720"/>
            <a:ext cx="48920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allocation of food, water, medicines, and rescue resources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emergency procedures and static decision rules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systems for route planning and resource allocation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dependence on human decision-making under pressure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ability to handle multiple constraints simultaneously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dynamically prioritize multiple affected areas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486400" cy="4526280"/>
          </a:xfrm>
          <a:prstGeom prst="roundRect">
            <a:avLst>
              <a:gd name="adj" fmla="val 2020"/>
            </a:avLst>
          </a:prstGeom>
          <a:solidFill>
            <a:srgbClr val="1B2A41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169164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/home/claude/ppt/icon_tim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81051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33172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during large-scale disasters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 may not be optimal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manage multiple affected areas simultaneously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decisions become outdated as road conditions change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predictive capability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Disaster Relief Resource Planner   |   CS23533 – Foundations of Artificial Intelligence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0789920" y="65196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—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51760" y="1527048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651760" y="1527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" y="1618488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8" name="Image 0" descr="/home/claude/ppt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46504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" y="23134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6791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Areas, resources, vehicles, shelters, roads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136392" y="22631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3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19272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13832" y="1527048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513832" y="1527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83864" y="1618488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1" descr="/home/claude/ppt/icon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746504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456432" y="23134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Severity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3456432" y="26791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emergency level &amp; requirements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5998464" y="22631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3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181344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375904" y="1527048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375904" y="1527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345936" y="1618488"/>
            <a:ext cx="566928" cy="566928"/>
          </a:xfrm>
          <a:prstGeom prst="ellipse">
            <a:avLst/>
          </a:prstGeom>
          <a:solidFill>
            <a:srgbClr val="24374F"/>
          </a:solidFill>
          <a:ln/>
        </p:spPr>
      </p:sp>
      <p:pic>
        <p:nvPicPr>
          <p:cNvPr id="24" name="Image 2" descr="/home/claude/ppt/icon_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746504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318504" y="23134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Environment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6318504" y="26791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locations &amp; roads as search space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8860536" y="22631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3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9043416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237976" y="1527048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11237976" y="1527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9208008" y="1618488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2" name="Image 3" descr="/home/claude/ppt/icon_ro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1746504"/>
            <a:ext cx="310896" cy="310896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180576" y="23134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Routes</a:t>
            </a:r>
            <a:endParaRPr lang="en-US" sz="1250" dirty="0"/>
          </a:p>
        </p:txBody>
      </p:sp>
      <p:sp>
        <p:nvSpPr>
          <p:cNvPr id="34" name="Text 28"/>
          <p:cNvSpPr txBox="1"/>
          <p:nvPr/>
        </p:nvSpPr>
        <p:spPr>
          <a:xfrm>
            <a:off x="9180576" y="26791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BFS, Uniform Cost Search, or A*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57200" y="379476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2651760" y="3904488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265176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621792" y="3995928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9" name="Image 4" descr="/home/claude/ppt/icon_bala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123944"/>
            <a:ext cx="310896" cy="310896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594360" y="46908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via CSP</a:t>
            </a:r>
            <a:endParaRPr lang="en-US" sz="1250" dirty="0"/>
          </a:p>
        </p:txBody>
      </p:sp>
      <p:sp>
        <p:nvSpPr>
          <p:cNvPr id="41" name="Text 34"/>
          <p:cNvSpPr txBox="1"/>
          <p:nvPr/>
        </p:nvSpPr>
        <p:spPr>
          <a:xfrm>
            <a:off x="594360" y="50566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propagation &amp; backtracking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3136392" y="46405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3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43" name="Shape 36"/>
          <p:cNvSpPr/>
          <p:nvPr/>
        </p:nvSpPr>
        <p:spPr>
          <a:xfrm>
            <a:off x="3319272" y="379476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5513832" y="3904488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5513832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Shape 39"/>
          <p:cNvSpPr/>
          <p:nvPr/>
        </p:nvSpPr>
        <p:spPr>
          <a:xfrm>
            <a:off x="3483864" y="3995928"/>
            <a:ext cx="566928" cy="566928"/>
          </a:xfrm>
          <a:prstGeom prst="ellipse">
            <a:avLst/>
          </a:prstGeom>
          <a:solidFill>
            <a:srgbClr val="24374F"/>
          </a:solidFill>
          <a:ln/>
        </p:spPr>
      </p:sp>
      <p:pic>
        <p:nvPicPr>
          <p:cNvPr id="47" name="Image 5" descr="/home/claude/ppt/icon_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4123944"/>
            <a:ext cx="310896" cy="310896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3456432" y="46908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Logic Rules</a:t>
            </a:r>
            <a:endParaRPr lang="en-US" sz="1250" dirty="0"/>
          </a:p>
        </p:txBody>
      </p:sp>
      <p:sp>
        <p:nvSpPr>
          <p:cNvPr id="49" name="Text 41"/>
          <p:cNvSpPr txBox="1"/>
          <p:nvPr/>
        </p:nvSpPr>
        <p:spPr>
          <a:xfrm>
            <a:off x="3456432" y="50566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emergency priorities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5998464" y="46405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3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51" name="Shape 43"/>
          <p:cNvSpPr/>
          <p:nvPr/>
        </p:nvSpPr>
        <p:spPr>
          <a:xfrm>
            <a:off x="6181344" y="379476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8375904" y="3904488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53" name="Text 45"/>
          <p:cNvSpPr txBox="1"/>
          <p:nvPr/>
        </p:nvSpPr>
        <p:spPr>
          <a:xfrm>
            <a:off x="8375904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4" name="Shape 46"/>
          <p:cNvSpPr/>
          <p:nvPr/>
        </p:nvSpPr>
        <p:spPr>
          <a:xfrm>
            <a:off x="6345936" y="3995928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5" name="Image 6" descr="/home/claude/ppt/icon_cha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4123944"/>
            <a:ext cx="310896" cy="310896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6318504" y="46908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with ML</a:t>
            </a:r>
            <a:endParaRPr lang="en-US" sz="1250" dirty="0"/>
          </a:p>
        </p:txBody>
      </p:sp>
      <p:sp>
        <p:nvSpPr>
          <p:cNvPr id="57" name="Text 48"/>
          <p:cNvSpPr txBox="1"/>
          <p:nvPr/>
        </p:nvSpPr>
        <p:spPr>
          <a:xfrm>
            <a:off x="6318504" y="50566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demand or travel time</a:t>
            </a:r>
            <a:endParaRPr lang="en-US" sz="1000" dirty="0"/>
          </a:p>
        </p:txBody>
      </p:sp>
      <p:sp>
        <p:nvSpPr>
          <p:cNvPr id="58" name="Text 49"/>
          <p:cNvSpPr txBox="1"/>
          <p:nvPr/>
        </p:nvSpPr>
        <p:spPr>
          <a:xfrm>
            <a:off x="8860536" y="46405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3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59" name="Shape 50"/>
          <p:cNvSpPr/>
          <p:nvPr/>
        </p:nvSpPr>
        <p:spPr>
          <a:xfrm>
            <a:off x="9043416" y="379476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>
            <a:off x="11237976" y="3904488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1" name="Text 52"/>
          <p:cNvSpPr txBox="1"/>
          <p:nvPr/>
        </p:nvSpPr>
        <p:spPr>
          <a:xfrm>
            <a:off x="11237976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2" name="Shape 53"/>
          <p:cNvSpPr/>
          <p:nvPr/>
        </p:nvSpPr>
        <p:spPr>
          <a:xfrm>
            <a:off x="9208008" y="3995928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3" name="Image 7" descr="/home/claude/ppt/icon_dashboar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6024" y="4123944"/>
            <a:ext cx="310896" cy="310896"/>
          </a:xfrm>
          <a:prstGeom prst="rect">
            <a:avLst/>
          </a:prstGeom>
        </p:spPr>
      </p:pic>
      <p:sp>
        <p:nvSpPr>
          <p:cNvPr id="64" name="Text 54"/>
          <p:cNvSpPr txBox="1"/>
          <p:nvPr/>
        </p:nvSpPr>
        <p:spPr>
          <a:xfrm>
            <a:off x="9180576" y="46908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Plan</a:t>
            </a:r>
            <a:endParaRPr lang="en-US" sz="1250" dirty="0"/>
          </a:p>
        </p:txBody>
      </p:sp>
      <p:sp>
        <p:nvSpPr>
          <p:cNvPr id="65" name="Text 55"/>
          <p:cNvSpPr txBox="1"/>
          <p:nvPr/>
        </p:nvSpPr>
        <p:spPr>
          <a:xfrm>
            <a:off x="9180576" y="50566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relief plan for decision-makers</a:t>
            </a:r>
            <a:endParaRPr lang="en-US" sz="1000" dirty="0"/>
          </a:p>
        </p:txBody>
      </p:sp>
      <p:sp>
        <p:nvSpPr>
          <p:cNvPr id="66" name="Text 56"/>
          <p:cNvSpPr txBox="1"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Disaster Relief Resource Planner   |   CS23533 – Foundations of Artificial Intelligence</a:t>
            </a:r>
            <a:endParaRPr lang="en-US" sz="900" dirty="0"/>
          </a:p>
        </p:txBody>
      </p:sp>
      <p:sp>
        <p:nvSpPr>
          <p:cNvPr id="67" name="Text 57"/>
          <p:cNvSpPr txBox="1"/>
          <p:nvPr/>
        </p:nvSpPr>
        <p:spPr>
          <a:xfrm>
            <a:off x="10789920" y="65196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Output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relief plan generated by the system for one affected zone: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92840" cy="4206240"/>
          </a:xfrm>
          <a:prstGeom prst="roundRect">
            <a:avLst>
              <a:gd name="adj" fmla="val 2609"/>
            </a:avLst>
          </a:prstGeom>
          <a:solidFill>
            <a:srgbClr val="1B2A41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4884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7" name="Image 0" descr="/home/claude/ppt/icon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860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194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Area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9509760" y="2212848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C039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9760" y="22128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PRIORITY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2971800"/>
            <a:ext cx="10652760" cy="0"/>
          </a:xfrm>
          <a:prstGeom prst="line">
            <a:avLst/>
          </a:prstGeom>
          <a:noFill/>
          <a:ln w="12700">
            <a:solidFill>
              <a:srgbClr val="3A4C6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24612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/home/claude/ppt/icon_wa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364992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08760" y="3200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1508760" y="3566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units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834640" y="324612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/home/claude/ppt/icon_medk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512" y="3364992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474720" y="3200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3474720" y="3566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packages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800600" y="324612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/home/claude/ppt/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364992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40680" y="3200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5440680" y="3566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kits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77240" y="4160520"/>
            <a:ext cx="10652760" cy="0"/>
          </a:xfrm>
          <a:prstGeom prst="line">
            <a:avLst/>
          </a:prstGeom>
          <a:noFill/>
          <a:ln w="12700">
            <a:solidFill>
              <a:srgbClr val="3A4C6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77240" y="4434840"/>
            <a:ext cx="502920" cy="502920"/>
          </a:xfrm>
          <a:prstGeom prst="ellipse">
            <a:avLst/>
          </a:prstGeom>
          <a:solidFill>
            <a:srgbClr val="24374F"/>
          </a:solidFill>
          <a:ln/>
        </p:spPr>
      </p:sp>
      <p:pic>
        <p:nvPicPr>
          <p:cNvPr id="26" name="Image 4" descr="/home/claude/ppt/icon_tru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553712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63040" y="45537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Vehicle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Vehicle 2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760720" y="4434840"/>
            <a:ext cx="502920" cy="502920"/>
          </a:xfrm>
          <a:prstGeom prst="ellipse">
            <a:avLst/>
          </a:prstGeom>
          <a:solidFill>
            <a:srgbClr val="24374F"/>
          </a:solidFill>
          <a:ln/>
        </p:spPr>
      </p:sp>
      <p:pic>
        <p:nvPicPr>
          <p:cNvPr id="29" name="Image 5" descr="/home/claude/ppt/icon_rou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4553712"/>
            <a:ext cx="265176" cy="26517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446520" y="4553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Route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C → B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9418320" y="4434840"/>
            <a:ext cx="502920" cy="502920"/>
          </a:xfrm>
          <a:prstGeom prst="ellipse">
            <a:avLst/>
          </a:prstGeom>
          <a:solidFill>
            <a:srgbClr val="24374F"/>
          </a:solidFill>
          <a:ln/>
        </p:spPr>
      </p:sp>
      <p:pic>
        <p:nvPicPr>
          <p:cNvPr id="32" name="Image 6" descr="/home/claude/ppt/icon_cl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7192" y="4553712"/>
            <a:ext cx="265176" cy="265176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104120" y="4480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777240" y="5212080"/>
            <a:ext cx="10652760" cy="0"/>
          </a:xfrm>
          <a:prstGeom prst="line">
            <a:avLst/>
          </a:prstGeom>
          <a:noFill/>
          <a:ln w="12700">
            <a:solidFill>
              <a:srgbClr val="3A4C63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777240" y="5394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generated by combining severity-based prioritization, CSP-based allocation, and A*-based routing.</a:t>
            </a:r>
            <a:endParaRPr lang="en-US" sz="1150" dirty="0"/>
          </a:p>
        </p:txBody>
      </p:sp>
      <p:sp>
        <p:nvSpPr>
          <p:cNvPr id="36" name="Text 27"/>
          <p:cNvSpPr txBox="1"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Disaster Relief Resource Planner   |   CS23533 – Foundations of Artificial Intelligence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789920" y="65196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977640" y="1371600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50792" y="1444752"/>
            <a:ext cx="420624" cy="420624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/home/claude/ppt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3329" y="1537289"/>
            <a:ext cx="235549" cy="2355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636008" y="1371600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Information Input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80176" y="1938528"/>
            <a:ext cx="201168" cy="146304"/>
          </a:xfrm>
          <a:prstGeom prst="downArrow">
            <a:avLst/>
          </a:prstGeom>
          <a:solidFill>
            <a:srgbClr val="B7C1CC"/>
          </a:solidFill>
          <a:ln/>
        </p:spPr>
      </p:sp>
      <p:sp>
        <p:nvSpPr>
          <p:cNvPr id="9" name="Shape 6"/>
          <p:cNvSpPr/>
          <p:nvPr/>
        </p:nvSpPr>
        <p:spPr>
          <a:xfrm>
            <a:off x="3977640" y="2084832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50792" y="2157984"/>
            <a:ext cx="420624" cy="42062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/home/claude/ppt/icon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29" y="2250521"/>
            <a:ext cx="235549" cy="2355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36008" y="2084832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Data Model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980176" y="2651760"/>
            <a:ext cx="201168" cy="146304"/>
          </a:xfrm>
          <a:prstGeom prst="downArrow">
            <a:avLst/>
          </a:prstGeom>
          <a:solidFill>
            <a:srgbClr val="B7C1CC"/>
          </a:solidFill>
          <a:ln/>
        </p:spPr>
      </p:sp>
      <p:sp>
        <p:nvSpPr>
          <p:cNvPr id="14" name="Shape 10"/>
          <p:cNvSpPr/>
          <p:nvPr/>
        </p:nvSpPr>
        <p:spPr>
          <a:xfrm>
            <a:off x="3977640" y="2798064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050792" y="2871216"/>
            <a:ext cx="420624" cy="420624"/>
          </a:xfrm>
          <a:prstGeom prst="ellipse">
            <a:avLst/>
          </a:prstGeom>
          <a:solidFill>
            <a:srgbClr val="24374F"/>
          </a:solidFill>
          <a:ln/>
        </p:spPr>
      </p:sp>
      <p:pic>
        <p:nvPicPr>
          <p:cNvPr id="16" name="Image 2" descr="/home/claude/ppt/icon_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29" y="2963753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36008" y="2798064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Agent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980176" y="3364992"/>
            <a:ext cx="201168" cy="146304"/>
          </a:xfrm>
          <a:prstGeom prst="downArrow">
            <a:avLst/>
          </a:prstGeom>
          <a:solidFill>
            <a:srgbClr val="B7C1CC"/>
          </a:solidFill>
          <a:ln/>
        </p:spPr>
      </p:sp>
      <p:sp>
        <p:nvSpPr>
          <p:cNvPr id="19" name="Shape 14"/>
          <p:cNvSpPr/>
          <p:nvPr/>
        </p:nvSpPr>
        <p:spPr>
          <a:xfrm>
            <a:off x="6080760" y="3364992"/>
            <a:ext cx="0" cy="146304"/>
          </a:xfrm>
          <a:prstGeom prst="line">
            <a:avLst/>
          </a:prstGeom>
          <a:noFill/>
          <a:ln w="15875">
            <a:solidFill>
              <a:srgbClr val="B7C1C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897380" y="3364992"/>
            <a:ext cx="0" cy="146304"/>
          </a:xfrm>
          <a:prstGeom prst="line">
            <a:avLst/>
          </a:prstGeom>
          <a:noFill/>
          <a:ln w="15875">
            <a:solidFill>
              <a:srgbClr val="B7C1C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71500" y="3511296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1B2A41"/>
          </a:solidFill>
          <a:ln/>
        </p:spPr>
      </p:sp>
      <p:sp>
        <p:nvSpPr>
          <p:cNvPr id="22" name="Shape 17"/>
          <p:cNvSpPr/>
          <p:nvPr/>
        </p:nvSpPr>
        <p:spPr>
          <a:xfrm>
            <a:off x="681228" y="363016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3" name="Image 3" descr="/home/claude/ppt/icon_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3712464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38428" y="35844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Algorithms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681228" y="404164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· DFS · UCS · A*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686300" y="3364992"/>
            <a:ext cx="0" cy="146304"/>
          </a:xfrm>
          <a:prstGeom prst="line">
            <a:avLst/>
          </a:prstGeom>
          <a:noFill/>
          <a:ln w="15875">
            <a:solidFill>
              <a:srgbClr val="B7C1C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360420" y="3511296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1B2A41"/>
          </a:solidFill>
          <a:ln/>
        </p:spPr>
      </p:sp>
      <p:sp>
        <p:nvSpPr>
          <p:cNvPr id="28" name="Shape 22"/>
          <p:cNvSpPr/>
          <p:nvPr/>
        </p:nvSpPr>
        <p:spPr>
          <a:xfrm>
            <a:off x="3470148" y="3630168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9" name="Image 4" descr="/home/claude/ppt/icon_bala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2444" y="3712464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3927348" y="35844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Satisfaction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3470148" y="404164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· Backtracking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7475220" y="3364992"/>
            <a:ext cx="0" cy="146304"/>
          </a:xfrm>
          <a:prstGeom prst="line">
            <a:avLst/>
          </a:prstGeom>
          <a:noFill/>
          <a:ln w="15875">
            <a:solidFill>
              <a:srgbClr val="B7C1CC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149340" y="3511296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1B2A41"/>
          </a:solidFill>
          <a:ln/>
        </p:spPr>
      </p:sp>
      <p:sp>
        <p:nvSpPr>
          <p:cNvPr id="34" name="Shape 27"/>
          <p:cNvSpPr/>
          <p:nvPr/>
        </p:nvSpPr>
        <p:spPr>
          <a:xfrm>
            <a:off x="6259068" y="3630168"/>
            <a:ext cx="384048" cy="384048"/>
          </a:xfrm>
          <a:prstGeom prst="ellipse">
            <a:avLst/>
          </a:prstGeom>
          <a:solidFill>
            <a:srgbClr val="24374F"/>
          </a:solidFill>
          <a:ln/>
        </p:spPr>
      </p:sp>
      <p:pic>
        <p:nvPicPr>
          <p:cNvPr id="35" name="Image 5" descr="/home/claude/ppt/icon_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1364" y="3712464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716268" y="35844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Reasoning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6259068" y="404164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Propositional · FOL · Chaining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10264140" y="3364992"/>
            <a:ext cx="0" cy="146304"/>
          </a:xfrm>
          <a:prstGeom prst="line">
            <a:avLst/>
          </a:prstGeom>
          <a:noFill/>
          <a:ln w="15875">
            <a:solidFill>
              <a:srgbClr val="B7C1CC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8938260" y="3511296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1B2A41"/>
          </a:solidFill>
          <a:ln/>
        </p:spPr>
      </p:sp>
      <p:sp>
        <p:nvSpPr>
          <p:cNvPr id="40" name="Shape 32"/>
          <p:cNvSpPr/>
          <p:nvPr/>
        </p:nvSpPr>
        <p:spPr>
          <a:xfrm>
            <a:off x="9047988" y="363016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1" name="Image 6" descr="/home/claude/ppt/icon_cha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0284" y="3712464"/>
            <a:ext cx="219456" cy="219456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9505188" y="35844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43" name="Text 34"/>
          <p:cNvSpPr txBox="1"/>
          <p:nvPr/>
        </p:nvSpPr>
        <p:spPr>
          <a:xfrm>
            <a:off x="9047988" y="404164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travel-time prediction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6080760" y="4471416"/>
            <a:ext cx="0" cy="146304"/>
          </a:xfrm>
          <a:prstGeom prst="line">
            <a:avLst/>
          </a:prstGeom>
          <a:noFill/>
          <a:ln w="15875">
            <a:solidFill>
              <a:srgbClr val="B7C1CC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3977640" y="4617720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4050792" y="4690872"/>
            <a:ext cx="420624" cy="42062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7" name="Image 7" descr="/home/claude/ppt/icon_rou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3329" y="4783409"/>
            <a:ext cx="235549" cy="235549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4636008" y="4617720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Resource Allocation &amp; Route</a:t>
            </a:r>
            <a:endParaRPr lang="en-US" sz="1200" dirty="0"/>
          </a:p>
        </p:txBody>
      </p:sp>
      <p:sp>
        <p:nvSpPr>
          <p:cNvPr id="49" name="Shape 39"/>
          <p:cNvSpPr/>
          <p:nvPr/>
        </p:nvSpPr>
        <p:spPr>
          <a:xfrm>
            <a:off x="5980176" y="5184648"/>
            <a:ext cx="201168" cy="146304"/>
          </a:xfrm>
          <a:prstGeom prst="downArrow">
            <a:avLst/>
          </a:prstGeom>
          <a:solidFill>
            <a:srgbClr val="B7C1CC"/>
          </a:solidFill>
          <a:ln/>
        </p:spPr>
      </p:sp>
      <p:sp>
        <p:nvSpPr>
          <p:cNvPr id="50" name="Shape 40"/>
          <p:cNvSpPr/>
          <p:nvPr/>
        </p:nvSpPr>
        <p:spPr>
          <a:xfrm>
            <a:off x="3977640" y="5330952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4050792" y="5404104"/>
            <a:ext cx="420624" cy="420624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2" name="Image 8" descr="/home/claude/ppt/icon_dashboar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3329" y="5496641"/>
            <a:ext cx="235549" cy="235549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4636008" y="5330952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Plan / Decision Dashboard</a:t>
            </a:r>
            <a:endParaRPr lang="en-US" sz="1200" dirty="0"/>
          </a:p>
        </p:txBody>
      </p:sp>
      <p:sp>
        <p:nvSpPr>
          <p:cNvPr id="54" name="Text 43"/>
          <p:cNvSpPr txBox="1"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Disaster Relief Resource Planner   |   CS23533 – Foundations of Artificial Intelligence</a:t>
            </a:r>
            <a:endParaRPr lang="en-US" sz="900" dirty="0"/>
          </a:p>
        </p:txBody>
      </p:sp>
      <p:sp>
        <p:nvSpPr>
          <p:cNvPr id="55" name="Text 44"/>
          <p:cNvSpPr txBox="1"/>
          <p:nvPr/>
        </p:nvSpPr>
        <p:spPr>
          <a:xfrm>
            <a:off x="10789920" y="65196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AI Techniques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581912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/home/claude/ppt/icon_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1705356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5636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Agents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167128"/>
            <a:ext cx="3374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decisions from the disaster environment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51960" y="141732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16552" y="158191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/home/claude/ppt/icon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6" y="170535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74920" y="15636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/ DFS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416552" y="2167128"/>
            <a:ext cx="3374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Uninformed strategies for route exploration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46720" y="141732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11312" y="1581912"/>
            <a:ext cx="548640" cy="548640"/>
          </a:xfrm>
          <a:prstGeom prst="ellipse">
            <a:avLst/>
          </a:prstGeom>
          <a:solidFill>
            <a:srgbClr val="24374F"/>
          </a:solidFill>
          <a:ln/>
        </p:spPr>
      </p:sp>
      <p:pic>
        <p:nvPicPr>
          <p:cNvPr id="16" name="Image 2" descr="/home/claude/ppt/icon_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756" y="170535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69680" y="15636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Cost Search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211312" y="2167128"/>
            <a:ext cx="3374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minimum-cost routes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97180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1792" y="3136392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1" name="Image 3" descr="/home/claude/ppt/icon_compa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325983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80160" y="31181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Search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621792" y="3721608"/>
            <a:ext cx="3374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route optimization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51960" y="297180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16552" y="313639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6" name="Image 4" descr="/home/claude/ppt/icon_bala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9996" y="3259836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074920" y="31181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4416552" y="3721608"/>
            <a:ext cx="3374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resources &amp; vehicles under constraints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46720" y="297180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11312" y="3136392"/>
            <a:ext cx="548640" cy="548640"/>
          </a:xfrm>
          <a:prstGeom prst="ellipse">
            <a:avLst/>
          </a:prstGeom>
          <a:solidFill>
            <a:srgbClr val="24374F"/>
          </a:solidFill>
          <a:ln/>
        </p:spPr>
      </p:sp>
      <p:pic>
        <p:nvPicPr>
          <p:cNvPr id="31" name="Image 5" descr="/home/claude/ppt/icon_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756" y="3259836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9680" y="31181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8211312" y="3721608"/>
            <a:ext cx="3374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resource assignments via propagation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57200" y="452628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21792" y="4690872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6" name="Image 6" descr="/home/claude/ppt/icon_boo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" y="4814316"/>
            <a:ext cx="301752" cy="30175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280160" y="46725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Propositional &amp; FOL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621792" y="5276088"/>
            <a:ext cx="3374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disaster-response rules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4251960" y="452628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416552" y="469087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1" name="Image 7" descr="/home/claude/ppt/icon_bol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9996" y="4814316"/>
            <a:ext cx="301752" cy="30175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074920" y="46725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Forward/Backward Chaining</a:t>
            </a:r>
            <a:endParaRPr lang="en-US" sz="1250" dirty="0"/>
          </a:p>
        </p:txBody>
      </p:sp>
      <p:sp>
        <p:nvSpPr>
          <p:cNvPr id="43" name="Text 33"/>
          <p:cNvSpPr txBox="1"/>
          <p:nvPr/>
        </p:nvSpPr>
        <p:spPr>
          <a:xfrm>
            <a:off x="4416552" y="5276088"/>
            <a:ext cx="3374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Derives decisions from the knowledge base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8046720" y="452628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8211312" y="4690872"/>
            <a:ext cx="548640" cy="548640"/>
          </a:xfrm>
          <a:prstGeom prst="ellipse">
            <a:avLst/>
          </a:prstGeom>
          <a:solidFill>
            <a:srgbClr val="24374F"/>
          </a:solidFill>
          <a:ln/>
        </p:spPr>
      </p:sp>
      <p:pic>
        <p:nvPicPr>
          <p:cNvPr id="46" name="Image 8" descr="/home/claude/ppt/icon_char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4756" y="4814316"/>
            <a:ext cx="301752" cy="301752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8869680" y="46725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48" name="Text 37"/>
          <p:cNvSpPr txBox="1"/>
          <p:nvPr/>
        </p:nvSpPr>
        <p:spPr>
          <a:xfrm>
            <a:off x="8211312" y="5276088"/>
            <a:ext cx="3374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resource demand &amp; travel time</a:t>
            </a:r>
            <a:endParaRPr lang="en-US" sz="1000" dirty="0"/>
          </a:p>
        </p:txBody>
      </p:sp>
      <p:sp>
        <p:nvSpPr>
          <p:cNvPr id="49" name="Text 38"/>
          <p:cNvSpPr txBox="1"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Disaster Relief Resource Planner   |   CS23533 – Foundations of Artificial Intelligence</a:t>
            </a:r>
            <a:endParaRPr lang="en-US" sz="900" dirty="0"/>
          </a:p>
        </p:txBody>
      </p:sp>
      <p:sp>
        <p:nvSpPr>
          <p:cNvPr id="50" name="Text 39"/>
          <p:cNvSpPr txBox="1"/>
          <p:nvPr/>
        </p:nvSpPr>
        <p:spPr>
          <a:xfrm>
            <a:off x="10789920" y="65196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2026-09-21T15:53:56Z</dcterms:created>
  <dcterms:modified xsi:type="dcterms:W3CDTF">2026-09-21T15:53:56Z</dcterms:modified>
</cp:coreProperties>
</file>